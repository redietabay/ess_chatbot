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15.png"/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7" Type="http://schemas.openxmlformats.org/officeDocument/2006/relationships/image" Target="../media/image8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C5D"/>
          </a:solidFill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82A42"/>
          </a:solidFill>
        </p:spPr>
      </p:sp>
      <p:sp>
        <p:nvSpPr>
          <p:cNvPr id="4" name="Shape 2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082A42"/>
          </a:solidFill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ETHIOPIAN STATISTICAL SERVICE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ESS AI Assistant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8503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bilingual, retrieval-augmented chatbot that turns years of</a:t>
            </a: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reports into instant, cited answers — in English and Amharic.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8100">
            <a:solidFill>
              <a:srgbClr val="D99A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206240"/>
            <a:ext cx="1723644" cy="384048"/>
          </a:xfrm>
          <a:prstGeom prst="roundRect">
            <a:avLst>
              <a:gd name="adj" fmla="val 19048"/>
            </a:avLst>
          </a:prstGeom>
          <a:solidFill>
            <a:srgbClr val="082A42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06240"/>
            <a:ext cx="17236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+ RAG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11196" y="420624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082A42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11196" y="4206240"/>
            <a:ext cx="135331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29100" y="4206240"/>
            <a:ext cx="3081528" cy="384048"/>
          </a:xfrm>
          <a:prstGeom prst="roundRect">
            <a:avLst>
              <a:gd name="adj" fmla="val 19048"/>
            </a:avLst>
          </a:prstGeom>
          <a:solidFill>
            <a:srgbClr val="082A42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29100" y="4206240"/>
            <a:ext cx="30815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/ Gemini / Ollama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75220" y="4206240"/>
            <a:ext cx="1229868" cy="384048"/>
          </a:xfrm>
          <a:prstGeom prst="roundRect">
            <a:avLst>
              <a:gd name="adj" fmla="val 19048"/>
            </a:avLst>
          </a:prstGeom>
          <a:solidFill>
            <a:srgbClr val="082A42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75220" y="4206240"/>
            <a:ext cx="12298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+ AM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9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Briefing  ·  Prepared for Internal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" y="1746504"/>
            <a:ext cx="658368" cy="658368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7" name="Image 0" descr="/home/claude/ppt/assets/icons/targe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512" y="1904512"/>
            <a:ext cx="342351" cy="3423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49047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728216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1122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ESS needs a self-service data assistant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9944" y="1746504"/>
            <a:ext cx="658368" cy="658368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2" name="Image 1" descr="/home/claude/ppt/assets/icons/layer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952" y="190451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149047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223760" y="1728216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2112264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widget, app, and AI layer fit together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3504" y="3227832"/>
            <a:ext cx="658368" cy="658368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7" name="Image 2" descr="/home/claude/ppt/assets/icons/uplo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12" y="3385840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2971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417320" y="3209544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&amp; Indexing Pipeline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1417320" y="359359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PDF reports into searchable knowledge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09944" y="3227832"/>
            <a:ext cx="658368" cy="658368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22" name="Image 3" descr="/home/claude/ppt/assets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952" y="3385840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23760" y="2971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7223760" y="3209544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LLM Layer &amp; Reliability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7223760" y="359359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Groq, Gemini, and local fallback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03504" y="4709160"/>
            <a:ext cx="658368" cy="658368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27" name="Image 4" descr="/home/claude/ppt/assets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512" y="4867168"/>
            <a:ext cx="342351" cy="34235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17320" y="44531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417320" y="469087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Features &amp; Demo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1417320" y="507492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live today, in screenshots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6409944" y="4709160"/>
            <a:ext cx="658368" cy="658368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32" name="Image 5" descr="/home/claude/ppt/assets/icons/trendin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952" y="4867168"/>
            <a:ext cx="342351" cy="342351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223760" y="44531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9A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7223760" y="469087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Roadmap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7223760" y="507492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upgrade path and what's next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is published. Answers are still hard to find.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773936"/>
            <a:ext cx="128016" cy="128016"/>
          </a:xfrm>
          <a:prstGeom prst="ellipse">
            <a:avLst/>
          </a:prstGeom>
          <a:solidFill>
            <a:srgbClr val="D99A2B"/>
          </a:solidFill>
        </p:spPr>
      </p:sp>
      <p:sp>
        <p:nvSpPr>
          <p:cNvPr id="7" name="Text 5"/>
          <p:cNvSpPr txBox="1"/>
          <p:nvPr/>
        </p:nvSpPr>
        <p:spPr>
          <a:xfrm>
            <a:off x="914400" y="1618488"/>
            <a:ext cx="6492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publishes dozens of census, economic-survey, livestock, and price-index reports every year — each dozens of pages long.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798064"/>
            <a:ext cx="128016" cy="128016"/>
          </a:xfrm>
          <a:prstGeom prst="ellipse">
            <a:avLst/>
          </a:prstGeom>
          <a:solidFill>
            <a:srgbClr val="D99A2B"/>
          </a:solidFill>
        </p:spPr>
      </p:sp>
      <p:sp>
        <p:nvSpPr>
          <p:cNvPr id="9" name="Text 7"/>
          <p:cNvSpPr txBox="1"/>
          <p:nvPr/>
        </p:nvSpPr>
        <p:spPr>
          <a:xfrm>
            <a:off x="914400" y="2642616"/>
            <a:ext cx="6492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Journalists, researchers, and staff need one specific figure (e.g. "EFY 2018 food inflation") and have no fast way to search across reports.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822192"/>
            <a:ext cx="128016" cy="128016"/>
          </a:xfrm>
          <a:prstGeom prst="ellipse">
            <a:avLst/>
          </a:prstGeom>
          <a:solidFill>
            <a:srgbClr val="D99A2B"/>
          </a:solidFill>
        </p:spPr>
      </p:sp>
      <p:sp>
        <p:nvSpPr>
          <p:cNvPr id="11" name="Text 9"/>
          <p:cNvSpPr txBox="1"/>
          <p:nvPr/>
        </p:nvSpPr>
        <p:spPr>
          <a:xfrm>
            <a:off x="914400" y="3666744"/>
            <a:ext cx="6492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Manually opening and scanning PDFs — often bilingual, sometimes scanned images — doesn't scale, and Amharic-speaking users are underserved by search tools.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846320"/>
            <a:ext cx="128016" cy="128016"/>
          </a:xfrm>
          <a:prstGeom prst="ellipse">
            <a:avLst/>
          </a:prstGeom>
          <a:solidFill>
            <a:srgbClr val="D99A2B"/>
          </a:solidFill>
        </p:spPr>
      </p:sp>
      <p:sp>
        <p:nvSpPr>
          <p:cNvPr id="13" name="Text 11"/>
          <p:cNvSpPr txBox="1"/>
          <p:nvPr/>
        </p:nvSpPr>
        <p:spPr>
          <a:xfrm>
            <a:off x="914400" y="4690872"/>
            <a:ext cx="6492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result: slow turnaround on simple data requests, and under-use of the statistics ESS already collects.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909560" y="1691640"/>
            <a:ext cx="3703320" cy="4160520"/>
          </a:xfrm>
          <a:prstGeom prst="roundRect">
            <a:avLst>
              <a:gd name="adj" fmla="val 2963"/>
            </a:avLst>
          </a:prstGeom>
          <a:solidFill>
            <a:srgbClr val="0B3C5D"/>
          </a:solidFill>
          <a:effectLst>
            <a:outerShdw blurRad="127000" dist="38100" dir="5400000" algn="bl" rotWithShape="0">
              <a:srgbClr val="1B2A3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909560" y="1810512"/>
            <a:ext cx="3703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59+</a:t>
            </a:r>
            <a:endParaRPr lang="en-US" sz="42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2450592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official ESS reports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currently indexed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66760" y="3127248"/>
            <a:ext cx="2788920" cy="0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09560" y="3246120"/>
            <a:ext cx="3703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C3F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10,162+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3813048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searchable text &amp; table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chunks in the knowledge base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66760" y="4480560"/>
            <a:ext cx="2788920" cy="0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09560" y="4572000"/>
            <a:ext cx="3703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9A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5074920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languages served —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English &amp; Amharic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assistant, two doorways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101600" dist="25400" dir="5400000" algn="bl" rotWithShape="0">
              <a:srgbClr val="16232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7260" y="1988820"/>
            <a:ext cx="777240" cy="777240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8" name="Image 0" descr="/home/claude/ppt/assets/icons/monito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798" y="2175358"/>
            <a:ext cx="404165" cy="4041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74520" y="19659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 Dashboard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874520" y="2377440"/>
            <a:ext cx="3886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dedicated chat app at /chat with saved conversation history, session management, and account sign-in for staff and researchers.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55080" y="169164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101600" dist="25400" dir="5400000" algn="bl" rotWithShape="0">
              <a:srgbClr val="16232E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43700" y="1988820"/>
            <a:ext cx="777240" cy="777240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3" name="Image 1" descr="/home/claude/ppt/assets/icons/cod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238" y="217535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80960" y="19659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Embeddable Widget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2377440"/>
            <a:ext cx="3886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one-line &lt;script&gt; tag drops a floating assistant bubble onto the public ESS website — no rebuild of the main site required.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SHARE THE SAME AI CORE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" y="4553712"/>
            <a:ext cx="621792" cy="621792"/>
          </a:xfrm>
          <a:prstGeom prst="ellipse">
            <a:avLst/>
          </a:prstGeom>
          <a:solidFill>
            <a:srgbClr val="FFFFFF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8" name="Image 2" descr="/home/claude/ppt/assets/icons/glob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22" y="4702942"/>
            <a:ext cx="323332" cy="3233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8640" y="4553712"/>
            <a:ext cx="621792" cy="621792"/>
          </a:xfrm>
          <a:prstGeom prst="ellipse">
            <a:avLst/>
          </a:prstGeom>
          <a:ln w="19050">
            <a:solidFill>
              <a:srgbClr val="4FC3F7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37160" y="526694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Bilingual EN / አማ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91440" y="5577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UI + answers in both languages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456432" y="4553712"/>
            <a:ext cx="621792" cy="621792"/>
          </a:xfrm>
          <a:prstGeom prst="ellipse">
            <a:avLst/>
          </a:prstGeom>
          <a:solidFill>
            <a:srgbClr val="FFFFFF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23" name="Image 3" descr="/home/claude/ppt/assets/icons/mic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662" y="4702942"/>
            <a:ext cx="323332" cy="32333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383280" y="4553712"/>
            <a:ext cx="621792" cy="621792"/>
          </a:xfrm>
          <a:prstGeom prst="ellipse">
            <a:avLst/>
          </a:prstGeom>
          <a:ln w="19050">
            <a:solidFill>
              <a:srgbClr val="4FC3F7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2971800" y="526694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Input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2926080" y="5577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by speaking, English or Amharic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291072" y="4553712"/>
            <a:ext cx="621792" cy="621792"/>
          </a:xfrm>
          <a:prstGeom prst="ellipse">
            <a:avLst/>
          </a:prstGeom>
          <a:solidFill>
            <a:srgbClr val="FFFFFF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28" name="Image 4" descr="/home/claude/ppt/assets/icons/papercli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302" y="4702942"/>
            <a:ext cx="323332" cy="32333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217920" y="4553712"/>
            <a:ext cx="621792" cy="621792"/>
          </a:xfrm>
          <a:prstGeom prst="ellipse">
            <a:avLst/>
          </a:prstGeom>
          <a:ln w="19050">
            <a:solidFill>
              <a:srgbClr val="4FC3F7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806440" y="526694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&amp; Ask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5760720" y="5577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Attach a PDF for on-the-spot Q&amp;A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125712" y="4553712"/>
            <a:ext cx="621792" cy="621792"/>
          </a:xfrm>
          <a:prstGeom prst="ellipse">
            <a:avLst/>
          </a:prstGeom>
          <a:solidFill>
            <a:srgbClr val="FFFFFF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33" name="Image 5" descr="/home/claude/ppt/assets/icons/volum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4942" y="4702942"/>
            <a:ext cx="323332" cy="323332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9052560" y="4553712"/>
            <a:ext cx="621792" cy="621792"/>
          </a:xfrm>
          <a:prstGeom prst="ellipse">
            <a:avLst/>
          </a:prstGeom>
          <a:ln w="19050">
            <a:solidFill>
              <a:srgbClr val="4FC3F7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641080" y="526694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Listen to Answers</a:t>
            </a:r>
            <a:endParaRPr lang="en-US" sz="1150" dirty="0"/>
          </a:p>
        </p:txBody>
      </p:sp>
      <p:sp>
        <p:nvSpPr>
          <p:cNvPr id="36" name="Text 28"/>
          <p:cNvSpPr txBox="1"/>
          <p:nvPr/>
        </p:nvSpPr>
        <p:spPr>
          <a:xfrm>
            <a:off x="8595360" y="5577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Text-to-speech playback per answer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1783080"/>
            <a:ext cx="1883664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3976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visitor · ESS staff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51760" y="2075688"/>
            <a:ext cx="548640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0" y="169164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0B3C5D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10128" y="1783080"/>
            <a:ext cx="2249424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UI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09397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/chat dashboard  ·  /widget embed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0" y="2075688"/>
            <a:ext cx="548640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16916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B3C5D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27648" y="1783080"/>
            <a:ext cx="2432304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App (app.py)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093976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· sessions · streaming API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69680" y="2075688"/>
            <a:ext cx="548640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418320" y="169164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528048" y="1783080"/>
            <a:ext cx="2020824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2093976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· sessions · file tracking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43800" y="2468880"/>
            <a:ext cx="0" cy="45720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00400" y="292608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310128" y="3017520"/>
            <a:ext cx="2843784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Retriever (retriever.py)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3328416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 query → ChromaDB similarity search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63640" y="3337560"/>
            <a:ext cx="548640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12280" y="292608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D99A2B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922008" y="3017520"/>
            <a:ext cx="2798064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2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rag.py — LLM orchestration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332841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082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prompt, streams cited answer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27448" y="2468880"/>
            <a:ext cx="0" cy="45720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" y="2926080"/>
            <a:ext cx="2423160" cy="822960"/>
          </a:xfrm>
          <a:prstGeom prst="roundRect">
            <a:avLst>
              <a:gd name="adj" fmla="val 8889"/>
            </a:avLst>
          </a:prstGeom>
          <a:solidFill>
            <a:srgbClr val="082A42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8368" y="3017520"/>
            <a:ext cx="2203704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328416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store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10,162+ chunks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971800" y="3337560"/>
            <a:ext cx="228600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321040" y="3749040"/>
            <a:ext cx="0" cy="32004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17920" y="406908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0B3C5D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327648" y="4160520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providers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4471416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→ Gemini → Ollama (local fallback)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51206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58368" y="5212080"/>
            <a:ext cx="4901184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index_pdfs.py  (offline pipeline)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522976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→ text/OCR/tables → chunks → embeddings → ChromaDB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69280" y="5504688"/>
            <a:ext cx="548640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217920" y="51206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D99A2B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327648" y="5212080"/>
            <a:ext cx="2523744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2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data/pdf/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309360" y="552297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082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59+ official ESS PDF reports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Guest chat, mic input, and PDF upload all flow through the same Flask app and RAG core — one AI brain behind both doorways.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PDF report to searchable answer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1417320" cy="173736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7260" y="2286000"/>
            <a:ext cx="548640" cy="548640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8" name="Image 0" descr="/home/claude/ppt/assets/icons/fold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41767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92608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Report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73552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Dropped into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data/pdf/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920240" y="2971800"/>
            <a:ext cx="210312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30552" y="2103120"/>
            <a:ext cx="1417320" cy="173736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4892" y="2286000"/>
            <a:ext cx="548640" cy="548640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4" name="Image 1" descr="/home/claude/ppt/assets/icons/ey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566" y="241767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176272" y="292608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Extraction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2176272" y="3273552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PyMuPDF reads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text layer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547872" y="2971800"/>
            <a:ext cx="210312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3758184" y="2103120"/>
            <a:ext cx="1417320" cy="173736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92524" y="2286000"/>
            <a:ext cx="548640" cy="548640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20" name="Image 2" descr="/home/claude/ppt/assets/icons/moni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198" y="241767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803904" y="292608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OCR Fallback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3803904" y="3273552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Tesseract (amh+eng)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scanned pages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175504" y="2971800"/>
            <a:ext cx="210312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5385816" y="2103120"/>
            <a:ext cx="1417320" cy="173736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820156" y="2286000"/>
            <a:ext cx="548640" cy="548640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26" name="Image 3" descr="/home/claude/ppt/assets/icons/gri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830" y="2417674"/>
            <a:ext cx="285293" cy="28529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431536" y="292608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Extraction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5431536" y="3273552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pdfplumber →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Markdown tables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6803136" y="2971800"/>
            <a:ext cx="210312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7013448" y="2103120"/>
            <a:ext cx="1417320" cy="173736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447788" y="2286000"/>
            <a:ext cx="548640" cy="548640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32" name="Image 4" descr="/home/claude/ppt/assets/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462" y="2417674"/>
            <a:ext cx="285293" cy="28529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059168" y="292608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Chunking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7059168" y="3273552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700 chars,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 overlap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8430768" y="2971800"/>
            <a:ext cx="210312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8641080" y="2103120"/>
            <a:ext cx="1417320" cy="173736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9075420" y="2286000"/>
            <a:ext cx="548640" cy="548640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38" name="Image 5" descr="/home/claude/ppt/assets/icons/cpu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7094" y="2417674"/>
            <a:ext cx="285293" cy="285293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686800" y="292608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8686800" y="3273552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Multilingual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MiniLM model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10058400" y="2971800"/>
            <a:ext cx="210312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42" name="Shape 34"/>
          <p:cNvSpPr/>
          <p:nvPr/>
        </p:nvSpPr>
        <p:spPr>
          <a:xfrm>
            <a:off x="10268712" y="2103120"/>
            <a:ext cx="1417320" cy="1737360"/>
          </a:xfrm>
          <a:prstGeom prst="roundRect">
            <a:avLst>
              <a:gd name="adj" fmla="val 5806"/>
            </a:avLst>
          </a:prstGeom>
          <a:solidFill>
            <a:srgbClr val="0B3C5D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10703052" y="2286000"/>
            <a:ext cx="548640" cy="548640"/>
          </a:xfrm>
          <a:prstGeom prst="ellipse">
            <a:avLst/>
          </a:prstGeom>
          <a:solidFill>
            <a:srgbClr val="4FC3F7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44" name="Image 6" descr="/home/claude/ppt/assets/icons/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4726" y="2417674"/>
            <a:ext cx="285293" cy="285293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0314432" y="292608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10314432" y="3273552"/>
            <a:ext cx="1325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&amp;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searchable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EAF3FB"/>
          </a:solidFill>
          <a:ln w="12700">
            <a:solidFill>
              <a:srgbClr val="CFE4F6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868680" y="4526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safety nets built in</a:t>
            </a:r>
            <a:endParaRPr lang="en-US" sz="1400" dirty="0"/>
          </a:p>
        </p:txBody>
      </p:sp>
      <p:sp>
        <p:nvSpPr>
          <p:cNvPr id="49" name="Text 40"/>
          <p:cNvSpPr txBox="1"/>
          <p:nvPr/>
        </p:nvSpPr>
        <p:spPr>
          <a:xfrm>
            <a:off x="868680" y="4892040"/>
            <a:ext cx="104241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3C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File-level tracking: </a:t>
            </a:r>
            <a:r>
              <a:rPr lang="en-US" sz="120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Postgres table records every file already indexed, so re-running the script only processes new PDFs — nothing is duplicated.
</a:t>
            </a:r>
            <a:r>
              <a:rPr lang="en-US" sz="1200" b="1" dirty="0">
                <a:solidFill>
                  <a:srgbClr val="0B3C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extraction logic: </a:t>
            </a:r>
            <a:r>
              <a:rPr lang="en-US" sz="1200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pdf_extract.py is used by both the bulk indexer and the in-chat “attach a PDF” upload feature, so OCR/table fixes never need to be made twice.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TOOLS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Adding a report is now one click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33060" cy="26077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25400">
            <a:solidFill>
              <a:srgbClr val="1E4D8C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assets/dashboar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1792" y="1490472"/>
            <a:ext cx="5286756" cy="24614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0300" y="1417320"/>
            <a:ext cx="5433060" cy="26077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25400">
            <a:solidFill>
              <a:srgbClr val="1E4D8C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1" descr="/home/claude/assets/add_report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83452" y="1490472"/>
            <a:ext cx="5286756" cy="246147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227960"/>
            <a:ext cx="100584" cy="100584"/>
          </a:xfrm>
          <a:prstGeom prst="ellipse">
            <a:avLst/>
          </a:prstGeom>
          <a:solidFill>
            <a:srgbClr val="D99A2B"/>
          </a:solidFill>
        </p:spPr>
      </p:sp>
      <p:sp>
        <p:nvSpPr>
          <p:cNvPr id="9" name="Text 5"/>
          <p:cNvSpPr txBox="1"/>
          <p:nvPr/>
        </p:nvSpPr>
        <p:spPr>
          <a:xfrm>
            <a:off x="777240" y="4162260"/>
            <a:ext cx="52044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observability dashboard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527360"/>
            <a:ext cx="54330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CB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Traffic, cache-hit rate, latency, errors, OCR pages, and token budget — updated live every 8 seconds, at /admin/dashboard.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210300" y="4227960"/>
            <a:ext cx="100584" cy="100584"/>
          </a:xfrm>
          <a:prstGeom prst="ellipse">
            <a:avLst/>
          </a:prstGeom>
          <a:solidFill>
            <a:srgbClr val="D99A2B"/>
          </a:solidFill>
        </p:spPr>
      </p:sp>
      <p:sp>
        <p:nvSpPr>
          <p:cNvPr id="12" name="Text 8"/>
          <p:cNvSpPr txBox="1"/>
          <p:nvPr/>
        </p:nvSpPr>
        <p:spPr>
          <a:xfrm>
            <a:off x="6438900" y="4162260"/>
            <a:ext cx="52044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One-click report upload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210300" y="4527360"/>
            <a:ext cx="54330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CB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Drag in a PDF — category and year auto-detect. Indexed in under a minute; the next chat question can already use it, no restart.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5486400"/>
            <a:ext cx="11064240" cy="0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used to mean server access and running a script by hand now happens from any browser — no restart, no downtime.</a:t>
            </a:r>
            <a:endParaRPr lang="en-US" sz="1150" i="1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365992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QUESTION GETS ANSWERED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Retrieval-augmented generation, step by step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1620" y="1965960"/>
            <a:ext cx="731520" cy="731520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8" name="Image 0" descr="/home/claude/ppt/assets/icons/search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7185" y="2141525"/>
            <a:ext cx="380390" cy="3803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3232" y="2880360"/>
            <a:ext cx="236829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 Understand the question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474720"/>
            <a:ext cx="2368296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user's question (typed, spoken, or from an uploaded PDF) is embedded into the same vector space as the indexed reports.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264408" y="3794760"/>
            <a:ext cx="100584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383280" y="173736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6260" y="1965960"/>
            <a:ext cx="731520" cy="731520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4" name="Image 1" descr="/home/claude/ppt/assets/icons/databas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825" y="214152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47872" y="2880360"/>
            <a:ext cx="236829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2. Find the relevant evidence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3547872" y="3474720"/>
            <a:ext cx="2368296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 returns the top 5 most similar chunks; a distance-score filter (≤ 1.65) drops anything too weakly related to be trustworthy.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6099048" y="3794760"/>
            <a:ext cx="100584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217920" y="173736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00900" y="1965960"/>
            <a:ext cx="731520" cy="731520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20" name="Image 2" descr="/home/claude/ppt/assets/icons/mess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465" y="2141525"/>
            <a:ext cx="380390" cy="38039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82512" y="2880360"/>
            <a:ext cx="236829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3. Answer with citations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6382512" y="3474720"/>
            <a:ext cx="2368296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LLM is prompted with only that retrieved evidence — not open knowledge — so answers cite the actual report, page, and figures.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8933688" y="3794760"/>
            <a:ext cx="100584" cy="0"/>
          </a:xfrm>
          <a:prstGeom prst="line">
            <a:avLst/>
          </a:prstGeom>
          <a:noFill/>
          <a:ln w="22225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9052560" y="173736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10035540" y="1965960"/>
            <a:ext cx="731520" cy="731520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26" name="Image 3" descr="/home/claude/ppt/assets/icons/z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1105" y="2141525"/>
            <a:ext cx="380390" cy="38039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17152" y="2880360"/>
            <a:ext cx="236829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3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4. Stream it back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9217152" y="3474720"/>
            <a:ext cx="2368296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answer streams token-by-token to the UI, tagged with its source, page, and response time, in the language the user is asking in.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question, three chances at an answer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chatbot never just fails silently — if the primary AI provider is rate-limited or down, it automatically falls through to the next tier.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0B3C5D"/>
          </a:solidFill>
          <a:effectLst>
            <a:outerShdw blurRad="101600" dist="25400" dir="5400000" algn="bl" rotWithShape="0">
              <a:srgbClr val="16232E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1 — PRIMARY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43100" y="2674620"/>
            <a:ext cx="777240" cy="777240"/>
          </a:xfrm>
          <a:prstGeom prst="ellipse">
            <a:avLst/>
          </a:prstGeom>
          <a:solidFill>
            <a:srgbClr val="FFFFFF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0" name="Image 0" descr="/home/claude/ppt/assets/icons/server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638" y="2861158"/>
            <a:ext cx="404165" cy="40416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35204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Groq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8862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openai/gpt-oss-120b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(fast fallback: 20b)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05840" y="4572000"/>
            <a:ext cx="2651760" cy="0"/>
          </a:xfrm>
          <a:prstGeom prst="line">
            <a:avLst/>
          </a:prstGeom>
          <a:noFill/>
          <a:ln w="12700">
            <a:solidFill>
              <a:srgbClr val="3A5A7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091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FC7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API — fast, high quality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33088" y="3703320"/>
            <a:ext cx="283464" cy="0"/>
          </a:xfrm>
          <a:prstGeom prst="line">
            <a:avLst/>
          </a:prstGeom>
          <a:noFill/>
          <a:ln w="25400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434840" y="210312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1C7293"/>
          </a:solidFill>
          <a:effectLst>
            <a:outerShdw blurRad="101600" dist="25400" dir="5400000" algn="bl" rotWithShape="0">
              <a:srgbClr val="16232E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663440" y="22860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2 — FALLBACK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29300" y="2674620"/>
            <a:ext cx="777240" cy="777240"/>
          </a:xfrm>
          <a:prstGeom prst="ellipse">
            <a:avLst/>
          </a:prstGeom>
          <a:solidFill>
            <a:srgbClr val="FFFFFF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9" name="Image 1" descr="/home/claude/ppt/assets/icons/refresh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838" y="2861158"/>
            <a:ext cx="404165" cy="40416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617720" y="35204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Gemini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4617720" y="38862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tier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(Flash-Lite)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892040" y="4572000"/>
            <a:ext cx="2651760" cy="0"/>
          </a:xfrm>
          <a:prstGeom prst="line">
            <a:avLst/>
          </a:prstGeom>
          <a:noFill/>
          <a:ln w="12700">
            <a:solidFill>
              <a:srgbClr val="3A5A7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663440" y="47091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FC7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only if Groq is exhausted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019288" y="3703320"/>
            <a:ext cx="283464" cy="0"/>
          </a:xfrm>
          <a:prstGeom prst="line">
            <a:avLst/>
          </a:prstGeom>
          <a:noFill/>
          <a:ln w="25400">
            <a:solidFill>
              <a:srgbClr val="9FB4C8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8321040" y="2103120"/>
            <a:ext cx="3566160" cy="3246120"/>
          </a:xfrm>
          <a:prstGeom prst="roundRect">
            <a:avLst>
              <a:gd name="adj" fmla="val 2817"/>
            </a:avLst>
          </a:prstGeom>
          <a:solidFill>
            <a:srgbClr val="082A42"/>
          </a:solidFill>
          <a:effectLst>
            <a:outerShdw blurRad="101600" dist="25400" dir="5400000" algn="bl" rotWithShape="0">
              <a:srgbClr val="16232E">
                <a:alpha val="18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8549640" y="22860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TIER 3 — LAST RESORT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9715500" y="2674620"/>
            <a:ext cx="777240" cy="777240"/>
          </a:xfrm>
          <a:prstGeom prst="ellipse">
            <a:avLst/>
          </a:prstGeom>
          <a:solidFill>
            <a:srgbClr val="FFFFFF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28" name="Image 2" descr="/home/claude/ppt/assets/icons/cpu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038" y="2861158"/>
            <a:ext cx="404165" cy="40416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503920" y="35204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Ollama (local)</a:t>
            </a:r>
            <a:endParaRPr lang="en-US" sz="1700" dirty="0"/>
          </a:p>
        </p:txBody>
      </p:sp>
      <p:sp>
        <p:nvSpPr>
          <p:cNvPr id="30" name="Text 25"/>
          <p:cNvSpPr txBox="1"/>
          <p:nvPr/>
        </p:nvSpPr>
        <p:spPr>
          <a:xfrm>
            <a:off x="8503920" y="38862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llama3.2:1b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on-server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8778240" y="4572000"/>
            <a:ext cx="2651760" cy="0"/>
          </a:xfrm>
          <a:prstGeom prst="line">
            <a:avLst/>
          </a:prstGeom>
          <a:noFill/>
          <a:ln w="12700">
            <a:solidFill>
              <a:srgbClr val="3A5A78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549640" y="47091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FC7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Keeps answering with zero internet dependency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 guardrails: per-model request timeouts, capped rate-limit retries, and an auto-override that catches when Groq retires a model name — so a silent “decommissioned model” error can never take the whole chatbot down.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LIVE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Features already shipped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16232E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72768" y="1892808"/>
            <a:ext cx="603504" cy="603504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8" name="Image 0" descr="/home/claude/ppt/assets/icons/glob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609" y="2037649"/>
            <a:ext cx="313822" cy="31382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606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Bilingual interface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95351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UI and AI answers in English and Amharic, switchable anytime.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3401568" y="1691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16232E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25696" y="1892808"/>
            <a:ext cx="603504" cy="603504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3" name="Image 1" descr="/home/claude/ppt/assets/icons/mic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537" y="2037649"/>
            <a:ext cx="313822" cy="31382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38728" y="2606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input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538728" y="295351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Click-to-start, click-to-stop mic — no accidental cut-offs or auto-send.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6254496" y="1691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16232E">
                <a:alpha val="9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78624" y="1892808"/>
            <a:ext cx="603504" cy="603504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8" name="Image 2" descr="/home/claude/ppt/assets/icons/volu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465" y="2037649"/>
            <a:ext cx="313822" cy="31382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91656" y="2606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Listen to answers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391656" y="295351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Per-answer text-to-speech playback in the matching language.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9107424" y="1691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16232E">
                <a:alpha val="9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131552" y="1892808"/>
            <a:ext cx="603504" cy="603504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23" name="Image 3" descr="/home/claude/ppt/assets/icons/papercli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6393" y="2037649"/>
            <a:ext cx="313822" cy="31382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44584" y="2606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&amp; ask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244584" y="295351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Attach a PDF in chat and ask questions about that document alone.</a:t>
            </a:r>
            <a:endParaRPr lang="en-US" sz="980" dirty="0"/>
          </a:p>
        </p:txBody>
      </p:sp>
      <p:sp>
        <p:nvSpPr>
          <p:cNvPr id="26" name="Shape 20"/>
          <p:cNvSpPr/>
          <p:nvPr/>
        </p:nvSpPr>
        <p:spPr>
          <a:xfrm>
            <a:off x="548640" y="388620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16232E">
                <a:alpha val="9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572768" y="4087368"/>
            <a:ext cx="603504" cy="603504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28" name="Image 4" descr="/home/claude/ppt/assets/icons/us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609" y="4232209"/>
            <a:ext cx="313822" cy="31382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85800" y="48006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Accounts &amp; guest mode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685800" y="514807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 in to save history, or try it as a guest with a question allowance.</a:t>
            </a:r>
            <a:endParaRPr lang="en-US" sz="980" dirty="0"/>
          </a:p>
        </p:txBody>
      </p:sp>
      <p:sp>
        <p:nvSpPr>
          <p:cNvPr id="31" name="Shape 24"/>
          <p:cNvSpPr/>
          <p:nvPr/>
        </p:nvSpPr>
        <p:spPr>
          <a:xfrm>
            <a:off x="3401568" y="388620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16232E">
                <a:alpha val="9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425696" y="4087368"/>
            <a:ext cx="603504" cy="603504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33" name="Image 5" descr="/home/claude/ppt/assets/icon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0537" y="4232209"/>
            <a:ext cx="313822" cy="31382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538728" y="48006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history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3538728" y="514807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Signed-in users can revisit, rename, and delete past conversations.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6254496" y="388620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16232E">
                <a:alpha val="9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7278624" y="4087368"/>
            <a:ext cx="603504" cy="603504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38" name="Image 6" descr="/home/claude/ppt/assets/icons/cod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3465" y="4232209"/>
            <a:ext cx="313822" cy="31382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391656" y="48006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Embeddable widget</a:t>
            </a:r>
            <a:endParaRPr lang="en-US" sz="1250" dirty="0"/>
          </a:p>
        </p:txBody>
      </p:sp>
      <p:sp>
        <p:nvSpPr>
          <p:cNvPr id="40" name="Text 31"/>
          <p:cNvSpPr txBox="1"/>
          <p:nvPr/>
        </p:nvSpPr>
        <p:spPr>
          <a:xfrm>
            <a:off x="6391656" y="514807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script tag adds a floating assistant bubble to the public website.</a:t>
            </a:r>
            <a:endParaRPr lang="en-US" sz="980" dirty="0"/>
          </a:p>
        </p:txBody>
      </p:sp>
      <p:sp>
        <p:nvSpPr>
          <p:cNvPr id="41" name="Shape 32"/>
          <p:cNvSpPr/>
          <p:nvPr/>
        </p:nvSpPr>
        <p:spPr>
          <a:xfrm>
            <a:off x="9107424" y="388620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63500" dist="25400" dir="5400000" algn="bl" rotWithShape="0">
              <a:srgbClr val="16232E">
                <a:alpha val="9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10131552" y="4087368"/>
            <a:ext cx="603504" cy="603504"/>
          </a:xfrm>
          <a:prstGeom prst="ellipse">
            <a:avLst/>
          </a:prstGeom>
          <a:solidFill>
            <a:srgbClr val="0B3C5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43" name="Image 7" descr="/home/claude/ppt/assets/icons/gri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6393" y="4232209"/>
            <a:ext cx="313822" cy="31382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244584" y="48006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Rich answers</a:t>
            </a:r>
            <a:endParaRPr lang="en-US" sz="1250" dirty="0"/>
          </a:p>
        </p:txBody>
      </p:sp>
      <p:sp>
        <p:nvSpPr>
          <p:cNvPr id="45" name="Text 35"/>
          <p:cNvSpPr txBox="1"/>
          <p:nvPr/>
        </p:nvSpPr>
        <p:spPr>
          <a:xfrm>
            <a:off x="9244584" y="514807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Streamed responses render Markdown tables, source tags, and timing.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dashboard, in 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9552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25400">
            <a:solidFill>
              <a:srgbClr val="1E4D8C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/assets/dashboar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1792" y="1490472"/>
            <a:ext cx="7808976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78240" y="1600200"/>
            <a:ext cx="100584" cy="100584"/>
          </a:xfrm>
          <a:prstGeom prst="ellipse">
            <a:avLst/>
          </a:prstGeom>
          <a:solidFill>
            <a:srgbClr val="D99A2B"/>
          </a:solidFill>
        </p:spPr>
      </p:sp>
      <p:sp>
        <p:nvSpPr>
          <p:cNvPr id="7" name="Text 4"/>
          <p:cNvSpPr txBox="1"/>
          <p:nvPr/>
        </p:nvSpPr>
        <p:spPr>
          <a:xfrm>
            <a:off x="9006840" y="14447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report data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755648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CB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pull exact figures — EFY 2018 inflation by month, food vs. non-food — straight from indexed ESS reports.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778240" y="3108960"/>
            <a:ext cx="100584" cy="100584"/>
          </a:xfrm>
          <a:prstGeom prst="ellipse">
            <a:avLst/>
          </a:prstGeom>
          <a:solidFill>
            <a:srgbClr val="D99A2B"/>
          </a:solidFill>
        </p:spPr>
      </p:sp>
      <p:sp>
        <p:nvSpPr>
          <p:cNvPr id="10" name="Text 7"/>
          <p:cNvSpPr txBox="1"/>
          <p:nvPr/>
        </p:nvSpPr>
        <p:spPr>
          <a:xfrm>
            <a:off x="9006840" y="295351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sidebar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006840" y="3264408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CB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past question is saved and searchable, so staff can return to a conversation later.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778240" y="4617720"/>
            <a:ext cx="100584" cy="100584"/>
          </a:xfrm>
          <a:prstGeom prst="ellipse">
            <a:avLst/>
          </a:prstGeom>
          <a:solidFill>
            <a:srgbClr val="D99A2B"/>
          </a:solidFill>
        </p:spPr>
      </p:sp>
      <p:sp>
        <p:nvSpPr>
          <p:cNvPr id="13" name="Text 10"/>
          <p:cNvSpPr txBox="1"/>
          <p:nvPr/>
        </p:nvSpPr>
        <p:spPr>
          <a:xfrm>
            <a:off x="9006840" y="446227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Bilingual toggle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006840" y="4773168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CB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 / አማ switch at the top instantly re-renders the whole interface.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65992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Embedded on the public website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9552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25400">
            <a:solidFill>
              <a:srgbClr val="1E4D8C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pt/assets/widget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1792" y="1490472"/>
            <a:ext cx="7808976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78240" y="1600200"/>
            <a:ext cx="100584" cy="100584"/>
          </a:xfrm>
          <a:prstGeom prst="ellipse">
            <a:avLst/>
          </a:prstGeom>
          <a:solidFill>
            <a:srgbClr val="D99A2B"/>
          </a:solidFill>
        </p:spPr>
      </p:sp>
      <p:sp>
        <p:nvSpPr>
          <p:cNvPr id="7" name="Text 4"/>
          <p:cNvSpPr txBox="1"/>
          <p:nvPr/>
        </p:nvSpPr>
        <p:spPr>
          <a:xfrm>
            <a:off x="9006840" y="14447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Floating bubble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755648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CB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ess-embed-loader.js injects a chat bubble with a single &lt;script&gt; tag — no changes to the rest of the site.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778240" y="3108960"/>
            <a:ext cx="100584" cy="100584"/>
          </a:xfrm>
          <a:prstGeom prst="ellipse">
            <a:avLst/>
          </a:prstGeom>
          <a:solidFill>
            <a:srgbClr val="D99A2B"/>
          </a:solidFill>
        </p:spPr>
      </p:sp>
      <p:sp>
        <p:nvSpPr>
          <p:cNvPr id="10" name="Text 7"/>
          <p:cNvSpPr txBox="1"/>
          <p:nvPr/>
        </p:nvSpPr>
        <p:spPr>
          <a:xfrm>
            <a:off x="9006840" y="295351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AI core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006840" y="3264408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CB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popup runs on the exact same Flask + RAG backend as the dashboard — one brain, two front doors.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778240" y="4617720"/>
            <a:ext cx="100584" cy="100584"/>
          </a:xfrm>
          <a:prstGeom prst="ellipse">
            <a:avLst/>
          </a:prstGeom>
          <a:solidFill>
            <a:srgbClr val="D99A2B"/>
          </a:solidFill>
        </p:spPr>
      </p:sp>
      <p:sp>
        <p:nvSpPr>
          <p:cNvPr id="13" name="Text 10"/>
          <p:cNvSpPr txBox="1"/>
          <p:nvPr/>
        </p:nvSpPr>
        <p:spPr>
          <a:xfrm>
            <a:off x="9006840" y="446227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Guest-friendly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006840" y="4773168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CB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Visitors can ask questions immediately, then optionally sign in to save the conversation.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9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65992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9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Known challenges &amp; limitations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2648" y="1728216"/>
            <a:ext cx="566928" cy="566928"/>
          </a:xfrm>
          <a:prstGeom prst="ellipse">
            <a:avLst/>
          </a:prstGeom>
          <a:solidFill>
            <a:srgbClr val="FDF1D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7" name="Image 0" descr="/home/claude/ppt/assets/icons/alert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711" y="1864279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691640"/>
            <a:ext cx="10149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Amharic OCR is weaker than English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020824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Tesseract's Amharic script support is less mature, so scanned Amharic pages OCR with more errors than English ones — a library limitation, not a bug in the pipeline.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" y="2587752"/>
            <a:ext cx="566928" cy="566928"/>
          </a:xfrm>
          <a:prstGeom prst="ellipse">
            <a:avLst/>
          </a:prstGeom>
          <a:solidFill>
            <a:srgbClr val="FDF1D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1" name="Image 1" descr="/home/claude/ppt/assets/icons/grid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11" y="272381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551176"/>
            <a:ext cx="10149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Scanned tables lose their structure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2880360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pdfplumber reads vector/ruling lines; on a scanned (image) page there's no structure to parse, so a scanned table comes back as plain OCR'd text, not a table.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2648" y="3680079"/>
            <a:ext cx="566928" cy="566928"/>
          </a:xfrm>
          <a:prstGeom prst="ellipse">
            <a:avLst/>
          </a:prstGeom>
          <a:solidFill>
            <a:srgbClr val="FDF1D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9" name="Image 3" descr="/home/claude/ppt/assets/icons/server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11" y="3840272"/>
            <a:ext cx="294803" cy="29480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3555365"/>
            <a:ext cx="10149840" cy="3568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Running on a free-tier LLM API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3840480"/>
            <a:ext cx="10149840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Groq's free tier can rate-limit under load; the Gemini/Ollama fallback chain covers this, but a dedicated model would remove the dependency entirely.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2648" y="4699000"/>
            <a:ext cx="566928" cy="566928"/>
          </a:xfrm>
          <a:prstGeom prst="ellipse">
            <a:avLst/>
          </a:prstGeom>
          <a:solidFill>
            <a:srgbClr val="FDF1DD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23" name="Image 4" descr="/home/claude/ppt/assets/icons/monitor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11" y="4772198"/>
            <a:ext cx="294803" cy="29480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17320" y="4498975"/>
            <a:ext cx="1014984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Hosted on a temporary tunnel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1417320" y="4942205"/>
            <a:ext cx="10149840" cy="561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current test environment runs behind an ngrok tunnel for demos — production needs a permanent domain and server.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 DEEP-DIVE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improvement: a dedicated open-source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 the chatbot depends on free-tier cloud APIs (Groq, Gemini). The team evaluated Qwen2.5-7B-Instruct as a self-hosted alternative that runs entirely on ESS's own infrastructure.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63093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blurRad="76200" dist="25400" dir="5400000" algn="bl" rotWithShape="0">
              <a:srgbClr val="16232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33172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Qwen2.5-7B-Instruct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41832" y="2862072"/>
            <a:ext cx="530352" cy="530352"/>
          </a:xfrm>
          <a:prstGeom prst="ellipse">
            <a:avLst/>
          </a:prstGeom>
          <a:solidFill>
            <a:srgbClr val="EAF3FB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0" name="Image 0" descr="/home/claude/ppt/assets/icons/globe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116" y="2989356"/>
            <a:ext cx="275783" cy="27578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834640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bilingual performance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3145536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Understands Amharic grammar and English equally well — the team's testing found it extracts exact figures from ESS documents (RAG) more reliably than Llama-based models.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41832" y="4032504"/>
            <a:ext cx="530352" cy="530352"/>
          </a:xfrm>
          <a:prstGeom prst="ellipse">
            <a:avLst/>
          </a:prstGeom>
          <a:solidFill>
            <a:srgbClr val="EAF3FB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4" name="Image 1" descr="/home/claude/ppt/assets/icons/shield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16" y="4159788"/>
            <a:ext cx="275783" cy="27578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00200" y="4005072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free &amp; open-source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1600200" y="4315968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per-token API cost and no rate limits — removes the dependency on Groq/Gemini free-tier quotas entirely.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41832" y="5202936"/>
            <a:ext cx="530352" cy="530352"/>
          </a:xfrm>
          <a:prstGeom prst="ellipse">
            <a:avLst/>
          </a:prstGeom>
          <a:solidFill>
            <a:srgbClr val="EAF3FB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18" name="Image 2" descr="/home/claude/ppt/assets/icons/databa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116" y="5330220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00200" y="5175504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stays on ESS infrastructure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1600200" y="5486400"/>
            <a:ext cx="5074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and user questions never leave ESS's own servers — a meaningful privacy and sovereignty upgrade over cloud APIs.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086600" y="2103120"/>
            <a:ext cx="4526280" cy="4114800"/>
          </a:xfrm>
          <a:prstGeom prst="roundRect">
            <a:avLst>
              <a:gd name="adj" fmla="val 2222"/>
            </a:avLst>
          </a:prstGeom>
          <a:solidFill>
            <a:srgbClr val="0B3C5D"/>
          </a:solidFill>
          <a:effectLst>
            <a:outerShdw blurRad="101600" dist="25400" dir="5400000" algn="bl" rotWithShape="0">
              <a:srgbClr val="1B2A38">
                <a:alpha val="20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7406640" y="23317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Hardware to run it well</a:t>
            </a:r>
            <a:endParaRPr lang="en-US" sz="1550" dirty="0"/>
          </a:p>
        </p:txBody>
      </p:sp>
      <p:sp>
        <p:nvSpPr>
          <p:cNvPr id="23" name="Shape 18"/>
          <p:cNvSpPr/>
          <p:nvPr/>
        </p:nvSpPr>
        <p:spPr>
          <a:xfrm>
            <a:off x="7543800" y="2898648"/>
            <a:ext cx="548640" cy="548640"/>
          </a:xfrm>
          <a:prstGeom prst="ellipse">
            <a:avLst/>
          </a:prstGeom>
          <a:solidFill>
            <a:srgbClr val="082A42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24" name="Image 3" descr="/home/claude/ppt/assets/icons/cpu_s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474" y="3030322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229600" y="288036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16–32 GB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0" y="3209544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RAM — 16 GB minimum, 32 GB for better speed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543800" y="3831336"/>
            <a:ext cx="548640" cy="548640"/>
          </a:xfrm>
          <a:prstGeom prst="ellipse">
            <a:avLst/>
          </a:prstGeom>
          <a:solidFill>
            <a:srgbClr val="082A42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28" name="Image 4" descr="/home/claude/ppt/assets/icons/monitor_sk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474" y="3963010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229600" y="3813048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8–16 GB VRAM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0" y="4142232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 GPU (e.g. RTX 3060/4060 or above) for fast responses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7543800" y="4764024"/>
            <a:ext cx="548640" cy="548640"/>
          </a:xfrm>
          <a:prstGeom prst="ellipse">
            <a:avLst/>
          </a:prstGeom>
          <a:solidFill>
            <a:srgbClr val="082A42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32" name="Image 5" descr="/home/claude/ppt/assets/icons/database_sk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5474" y="4895698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229600" y="4745736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 GB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229600" y="507492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disk space to store the model weights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7406640" y="5724144"/>
            <a:ext cx="3931920" cy="0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7406640" y="5861304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9FC7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a GPU, it can run on CPU only — but noticeably slower.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 DEEP-DIVE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Recommendation &amp; path forward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537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DF1DD"/>
          </a:solidFill>
          <a:ln w="12700">
            <a:solidFill>
              <a:srgbClr val="F3DB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1540" y="1915668"/>
            <a:ext cx="777240" cy="777240"/>
          </a:xfrm>
          <a:prstGeom prst="ellipse">
            <a:avLst/>
          </a:prstGeom>
          <a:solidFill>
            <a:srgbClr val="D99A2B"/>
          </a:solidFill>
          <a:effectLst>
            <a:outerShdw blurRad="76200" dist="25400" dir="5400000" algn="bl" rotWithShape="0">
              <a:srgbClr val="1B2A38">
                <a:alpha val="18000"/>
              </a:srgbClr>
            </a:outerShdw>
          </a:effectLst>
        </p:spPr>
      </p:sp>
      <p:pic>
        <p:nvPicPr>
          <p:cNvPr id="8" name="Image 0" descr="/home/claude/ppt/assets/icons/targe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8" y="2102206"/>
            <a:ext cx="404165" cy="4041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28800" y="178308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C5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Recommendation: host Qwen on ESS's own server — not a laptop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1488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82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current development machine can't meet the GPU/VRAM requirement above. If ESS's server has a suitable GPU, that's the right place to deploy Qwen2.5-7B for full data privacy and zero API cost. While that's arranged, keep the existing Groq → Gemini → Ollama chain running, and evaluate other free-trial cloud APIs (e.g. OpenRouter, Together AI, Cerebras) as an interim bridge — no user-facing downtime either way.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0B3C5D"/>
          </a:solidFill>
          <a:effectLst>
            <a:outerShdw blurRad="76200" dist="25400" dir="5400000" algn="bl" rotWithShape="0">
              <a:srgbClr val="16232E">
                <a:alpha val="1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4672" y="3493008"/>
            <a:ext cx="30540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 — SHIPPED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4672" y="3941064"/>
            <a:ext cx="82296" cy="82296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11"/>
          <p:cNvSpPr txBox="1"/>
          <p:nvPr/>
        </p:nvSpPr>
        <p:spPr>
          <a:xfrm>
            <a:off x="1005840" y="3794760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Bilingual dashboard + embeddable widget live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04672" y="4654296"/>
            <a:ext cx="82296" cy="82296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6" name="Text 13"/>
          <p:cNvSpPr txBox="1"/>
          <p:nvPr/>
        </p:nvSpPr>
        <p:spPr>
          <a:xfrm>
            <a:off x="1005840" y="4507992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3-tier reliability fallback (Groq → Gemini → Ollama)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804672" y="5367528"/>
            <a:ext cx="82296" cy="82296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8" name="Text 15"/>
          <p:cNvSpPr txBox="1"/>
          <p:nvPr/>
        </p:nvSpPr>
        <p:spPr>
          <a:xfrm>
            <a:off x="1005840" y="5221224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panel: live dashboard + one-click PDF upload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4434840" y="329184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1C7293"/>
          </a:solidFill>
          <a:effectLst>
            <a:outerShdw blurRad="76200" dist="25400" dir="5400000" algn="bl" rotWithShape="0">
              <a:srgbClr val="16232E">
                <a:alpha val="1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690872" y="3493008"/>
            <a:ext cx="30540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— IN PROGRESS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90872" y="3941064"/>
            <a:ext cx="82296" cy="82296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2" name="Text 19"/>
          <p:cNvSpPr txBox="1"/>
          <p:nvPr/>
        </p:nvSpPr>
        <p:spPr>
          <a:xfrm>
            <a:off x="4892040" y="3794760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watch-folder indexing (no manual run needed)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4690872" y="4654296"/>
            <a:ext cx="82296" cy="82296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4" name="Text 21"/>
          <p:cNvSpPr txBox="1"/>
          <p:nvPr/>
        </p:nvSpPr>
        <p:spPr>
          <a:xfrm>
            <a:off x="4892040" y="4507992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Qwen2.5-7B on ESS server hardware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4690872" y="5367528"/>
            <a:ext cx="82296" cy="82296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6" name="Text 23"/>
          <p:cNvSpPr txBox="1"/>
          <p:nvPr/>
        </p:nvSpPr>
        <p:spPr>
          <a:xfrm>
            <a:off x="4892040" y="5221224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Trial free-tier APIs as a bridge while GPU is arranged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8321040" y="3291840"/>
            <a:ext cx="3566160" cy="2880360"/>
          </a:xfrm>
          <a:prstGeom prst="roundRect">
            <a:avLst>
              <a:gd name="adj" fmla="val 3175"/>
            </a:avLst>
          </a:prstGeom>
          <a:solidFill>
            <a:srgbClr val="082A42"/>
          </a:solidFill>
          <a:effectLst>
            <a:outerShdw blurRad="76200" dist="25400" dir="5400000" algn="bl" rotWithShape="0">
              <a:srgbClr val="16232E">
                <a:alpha val="1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77072" y="3493008"/>
            <a:ext cx="30540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9A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LATER — PLANNED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577072" y="3941064"/>
            <a:ext cx="82296" cy="82296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0" name="Text 27"/>
          <p:cNvSpPr txBox="1"/>
          <p:nvPr/>
        </p:nvSpPr>
        <p:spPr>
          <a:xfrm>
            <a:off x="8778240" y="3794760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off the ngrok tunnel to a permanent domain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8577072" y="4654296"/>
            <a:ext cx="82296" cy="82296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2" name="Text 29"/>
          <p:cNvSpPr txBox="1"/>
          <p:nvPr/>
        </p:nvSpPr>
        <p:spPr>
          <a:xfrm>
            <a:off x="8778240" y="4507992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Deeper analytics: top questions, query gaps, per-report usage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8577072" y="5367528"/>
            <a:ext cx="82296" cy="82296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4" name="Text 31"/>
          <p:cNvSpPr txBox="1"/>
          <p:nvPr/>
        </p:nvSpPr>
        <p:spPr>
          <a:xfrm>
            <a:off x="8778240" y="5221224"/>
            <a:ext cx="28529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E8E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Scheduled re-indexing as new reports are published</a:t>
            </a:r>
            <a:endParaRPr lang="en-US" sz="10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931920"/>
            <a:ext cx="5486400" cy="5486400"/>
          </a:xfrm>
          <a:prstGeom prst="ellipse">
            <a:avLst/>
          </a:prstGeom>
          <a:solidFill>
            <a:srgbClr val="082A42"/>
          </a:solidFill>
        </p:spPr>
      </p:sp>
      <p:sp>
        <p:nvSpPr>
          <p:cNvPr id="3" name="Shape 1"/>
          <p:cNvSpPr/>
          <p:nvPr/>
        </p:nvSpPr>
        <p:spPr>
          <a:xfrm>
            <a:off x="9875520" y="-2377440"/>
            <a:ext cx="5029200" cy="5029200"/>
          </a:xfrm>
          <a:prstGeom prst="ellipse">
            <a:avLst/>
          </a:prstGeom>
          <a:solidFill>
            <a:srgbClr val="082A42"/>
          </a:solidFill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974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 AI Assistant — built to turn Ethiopian Statistical Service reports into fast, cited, bilingual answers.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8100">
            <a:solidFill>
              <a:srgbClr val="D99A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9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Ethiopian Statistical Service  ·  Project Briefing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10099</Words>
  <Application>WPS Presentation</Application>
  <PresentationFormat>On-screen Show (16:9)</PresentationFormat>
  <Paragraphs>525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toshiba</cp:lastModifiedBy>
  <cp:revision>2</cp:revision>
  <dcterms:created xsi:type="dcterms:W3CDTF">2026-08-30T19:24:00Z</dcterms:created>
  <dcterms:modified xsi:type="dcterms:W3CDTF">2026-08-31T00:48:24Z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AE676FE062FA43B98559C012D455C923_12</vt:lpwstr>
  </property>
</Properties>
</file>